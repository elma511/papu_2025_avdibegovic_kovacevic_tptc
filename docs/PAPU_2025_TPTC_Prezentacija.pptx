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0" r:id="rId6"/>
    <p:sldId id="269" r:id="rId7"/>
    <p:sldId id="264" r:id="rId8"/>
    <p:sldId id="271" r:id="rId9"/>
    <p:sldId id="260" r:id="rId10"/>
    <p:sldId id="265" r:id="rId11"/>
    <p:sldId id="266" r:id="rId12"/>
    <p:sldId id="267" r:id="rId13"/>
    <p:sldId id="261" r:id="rId14"/>
    <p:sldId id="262" r:id="rId15"/>
    <p:sldId id="268" r:id="rId16"/>
    <p:sldId id="263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D5686-9C5F-2B7B-B62C-D3F7FB96A461}" v="472" dt="2025-05-27T00:09:26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86949-F0AC-4DDE-8450-9F5B5AAD06FC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B3693-EA00-45FC-81CC-69437CFB2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079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DDE56-BC70-4D32-A9AA-EE27D799B83D}" type="datetime1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ACF4-47CA-4522-B2B8-99317D7BB4D2}" type="datetime1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3696B-9B0F-49CC-9C12-3C3F5F8AD0A6}" type="datetime1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C91F-C00C-4741-993F-F652074ED3DF}" type="datetime1">
              <a:rPr lang="en-US" smtClean="0"/>
              <a:t>5/28/2025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C6E6D-7165-43EC-A864-33DA3FD37FE6}" type="datetime1">
              <a:rPr lang="en-US" smtClean="0"/>
              <a:t>5/28/2025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978B1-6C14-40A5-84DF-4E99179DCBD9}" type="datetime1">
              <a:rPr lang="en-US" smtClean="0"/>
              <a:t>5/28/2025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91C1-5462-4479-A849-D108BE4DDC51}" type="datetime1">
              <a:rPr lang="en-US" smtClean="0"/>
              <a:t>5/28/2025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9AA9BE-5FCC-414E-839A-5904BDE0E22A}" type="datetime1">
              <a:rPr lang="en-US" smtClean="0"/>
              <a:t>5/28/2025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28A6-E660-4611-A02E-EBB9176E2404}" type="datetime1">
              <a:rPr lang="en-US" smtClean="0"/>
              <a:t>5/28/2025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76FCC-8E22-4BD3-884A-D51301E84317}" type="datetime1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41C6D-9475-4420-BF68-4ABD675217BD}" type="datetime1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1866249-1ED1-451E-A3A2-3E6F295247AF}" type="datetime1">
              <a:rPr lang="en-US" smtClean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DFA1D-A9AB-0722-1761-63C6594F8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083" y="1468435"/>
            <a:ext cx="10058400" cy="2282303"/>
          </a:xfrm>
        </p:spPr>
        <p:txBody>
          <a:bodyPr/>
          <a:lstStyle/>
          <a:p>
            <a:r>
              <a:rPr lang="en" sz="8000" dirty="0">
                <a:latin typeface="Bodoni MT" panose="02070603080606020203" pitchFamily="18" charset="0"/>
              </a:rPr>
              <a:t>Dvopoložajna regulacija na PLC-u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4C4DC-693A-98FF-1860-1173FE84F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3816207"/>
            <a:ext cx="10058400" cy="459600"/>
          </a:xfrm>
        </p:spPr>
        <p:txBody>
          <a:bodyPr/>
          <a:lstStyle/>
          <a:p>
            <a:r>
              <a:rPr lang="en-GB" dirty="0">
                <a:latin typeface="Bodoni MT" panose="02070603080606020203" pitchFamily="18" charset="0"/>
              </a:rPr>
              <a:t>Termički sistem (Ventilator) </a:t>
            </a:r>
          </a:p>
        </p:txBody>
      </p:sp>
      <p:sp>
        <p:nvSpPr>
          <p:cNvPr id="4" name="Google Shape;229;p30">
            <a:extLst>
              <a:ext uri="{FF2B5EF4-FFF2-40B4-BE49-F238E27FC236}">
                <a16:creationId xmlns:a16="http://schemas.microsoft.com/office/drawing/2014/main" id="{4C1C635D-3F0C-A2FF-52D3-83A9CB5E9740}"/>
              </a:ext>
            </a:extLst>
          </p:cNvPr>
          <p:cNvSpPr txBox="1">
            <a:spLocks noGrp="1"/>
          </p:cNvSpPr>
          <p:nvPr/>
        </p:nvSpPr>
        <p:spPr>
          <a:xfrm>
            <a:off x="8819638" y="5251666"/>
            <a:ext cx="26376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Bodoni MT" panose="02070603080606020203" pitchFamily="18" charset="0"/>
              </a:rPr>
              <a:t>Sarajevo, maj 2025</a:t>
            </a:r>
            <a:endParaRPr sz="2000" dirty="0">
              <a:latin typeface="Bodoni MT" panose="02070603080606020203" pitchFamily="18" charset="0"/>
            </a:endParaRPr>
          </a:p>
        </p:txBody>
      </p:sp>
      <p:sp>
        <p:nvSpPr>
          <p:cNvPr id="5" name="Google Shape;230;p30">
            <a:extLst>
              <a:ext uri="{FF2B5EF4-FFF2-40B4-BE49-F238E27FC236}">
                <a16:creationId xmlns:a16="http://schemas.microsoft.com/office/drawing/2014/main" id="{36075966-45FF-9939-24C7-53822C88A56C}"/>
              </a:ext>
            </a:extLst>
          </p:cNvPr>
          <p:cNvSpPr txBox="1">
            <a:spLocks noGrp="1"/>
          </p:cNvSpPr>
          <p:nvPr/>
        </p:nvSpPr>
        <p:spPr>
          <a:xfrm>
            <a:off x="1154083" y="1049132"/>
            <a:ext cx="68166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7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bril Fatface"/>
              <a:buNone/>
              <a:defRPr sz="5200" b="0" i="0" u="none" strike="noStrike" cap="none">
                <a:solidFill>
                  <a:srgbClr val="19191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Bodoni MT" panose="02070603080606020203" pitchFamily="18" charset="0"/>
                <a:ea typeface="Nunito"/>
                <a:cs typeface="Nunito"/>
                <a:sym typeface="Nunito"/>
              </a:rPr>
              <a:t>Praktikum akvizicije podataka i upravljanja</a:t>
            </a:r>
            <a:endParaRPr sz="2400" dirty="0">
              <a:latin typeface="Bodoni MT" panose="02070603080606020203" pitchFamily="18" charset="0"/>
              <a:ea typeface="Nunito"/>
              <a:cs typeface="Nunito"/>
              <a:sym typeface="Nunito"/>
            </a:endParaRPr>
          </a:p>
        </p:txBody>
      </p:sp>
      <p:sp>
        <p:nvSpPr>
          <p:cNvPr id="6" name="Google Shape;227;p30">
            <a:extLst>
              <a:ext uri="{FF2B5EF4-FFF2-40B4-BE49-F238E27FC236}">
                <a16:creationId xmlns:a16="http://schemas.microsoft.com/office/drawing/2014/main" id="{92D8150A-43A8-ED4F-8B53-4773F8C34203}"/>
              </a:ext>
            </a:extLst>
          </p:cNvPr>
          <p:cNvSpPr txBox="1">
            <a:spLocks noGrp="1"/>
          </p:cNvSpPr>
          <p:nvPr/>
        </p:nvSpPr>
        <p:spPr>
          <a:xfrm>
            <a:off x="1006437" y="4921066"/>
            <a:ext cx="33114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1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Bodoni MT" panose="02070603080606020203" pitchFamily="18" charset="0"/>
              </a:rPr>
              <a:t>Nedim Kovačević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Bodoni MT" panose="02070603080606020203" pitchFamily="18" charset="0"/>
              </a:rPr>
              <a:t>Elma Avdibegović</a:t>
            </a:r>
            <a:endParaRPr sz="2000" dirty="0">
              <a:latin typeface="Bodoni MT" panose="020706030806060202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E2FC1-BFCF-0795-488D-90764BF0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 smtClean="0"/>
              <a:t>1</a:t>
            </a:fld>
            <a:r>
              <a:rPr lang="en-US"/>
              <a:t>/16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939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52A9E-F0C8-053B-D33B-3524DDE42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88906"/>
            <a:ext cx="10058400" cy="748454"/>
          </a:xfrm>
        </p:spPr>
        <p:txBody>
          <a:bodyPr/>
          <a:lstStyle/>
          <a:p>
            <a:r>
              <a:rPr lang="en-GB" dirty="0">
                <a:latin typeface="Bodoni MT" panose="02070603080606020203" pitchFamily="18" charset="0"/>
              </a:rPr>
              <a:t>Sadržaj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9404C-C575-0581-B26D-4CB31A47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r>
              <a:rPr lang="en-US"/>
              <a:t>/16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4F44AEE-C5A5-6FF3-966C-74DD119A41E5}"/>
              </a:ext>
            </a:extLst>
          </p:cNvPr>
          <p:cNvSpPr txBox="1"/>
          <p:nvPr/>
        </p:nvSpPr>
        <p:spPr>
          <a:xfrm>
            <a:off x="894944" y="1950922"/>
            <a:ext cx="24319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dirty="0">
                <a:latin typeface="Bodoni MT" panose="02070603080606020203" pitchFamily="18" charset="0"/>
              </a:rPr>
              <a:t>1. Opis problema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675A891-033E-702A-55E5-CE590E7D4B99}"/>
              </a:ext>
            </a:extLst>
          </p:cNvPr>
          <p:cNvSpPr txBox="1"/>
          <p:nvPr/>
        </p:nvSpPr>
        <p:spPr>
          <a:xfrm>
            <a:off x="4306995" y="1920144"/>
            <a:ext cx="2765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dirty="0">
                <a:latin typeface="Bodoni MT" panose="02070603080606020203" pitchFamily="18" charset="0"/>
              </a:rPr>
              <a:t>2. Organizacija vježbe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30D1251-30C5-DEDC-D188-6B8663233AE3}"/>
              </a:ext>
            </a:extLst>
          </p:cNvPr>
          <p:cNvSpPr txBox="1"/>
          <p:nvPr/>
        </p:nvSpPr>
        <p:spPr>
          <a:xfrm>
            <a:off x="8052143" y="1950922"/>
            <a:ext cx="28672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000" dirty="0">
                <a:latin typeface="Bodoni MT" panose="02070603080606020203" pitchFamily="18" charset="0"/>
              </a:rPr>
              <a:t>3. Korišteni alat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CC06FE1-E444-D5F6-FEEB-D280A38ED3C6}"/>
              </a:ext>
            </a:extLst>
          </p:cNvPr>
          <p:cNvSpPr txBox="1"/>
          <p:nvPr/>
        </p:nvSpPr>
        <p:spPr>
          <a:xfrm>
            <a:off x="4427707" y="4035924"/>
            <a:ext cx="33365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000" dirty="0">
                <a:latin typeface="Bodoni MT" panose="02070603080606020203" pitchFamily="18" charset="0"/>
              </a:rPr>
              <a:t>5. Eksperimentalni rezultati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30C9183-C338-1C83-AC72-38C353D72377}"/>
              </a:ext>
            </a:extLst>
          </p:cNvPr>
          <p:cNvSpPr txBox="1"/>
          <p:nvPr/>
        </p:nvSpPr>
        <p:spPr>
          <a:xfrm>
            <a:off x="1047344" y="4035924"/>
            <a:ext cx="25324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000" dirty="0">
                <a:latin typeface="Bodoni MT" panose="02070603080606020203" pitchFamily="18" charset="0"/>
              </a:rPr>
              <a:t>4. Simulacijski rezultati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39A5F88-EE4E-D137-538F-E78ACB3C4AC9}"/>
              </a:ext>
            </a:extLst>
          </p:cNvPr>
          <p:cNvSpPr txBox="1"/>
          <p:nvPr/>
        </p:nvSpPr>
        <p:spPr>
          <a:xfrm>
            <a:off x="7643580" y="4035924"/>
            <a:ext cx="33657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000" dirty="0">
                <a:latin typeface="Bodoni MT" panose="02070603080606020203" pitchFamily="18" charset="0"/>
              </a:rPr>
              <a:t>6. Zaključak</a:t>
            </a:r>
          </a:p>
        </p:txBody>
      </p:sp>
    </p:spTree>
    <p:extLst>
      <p:ext uri="{BB962C8B-B14F-4D97-AF65-F5344CB8AC3E}">
        <p14:creationId xmlns:p14="http://schemas.microsoft.com/office/powerpoint/2010/main" val="460039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606E5-6AE7-986A-2624-6A0AEFB72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doni MT" panose="02070603080606020203" pitchFamily="18" charset="0"/>
              </a:rPr>
              <a:t>1. Opis problema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02BDA-F603-8EAF-2C3F-779543157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r>
              <a:rPr lang="en-US"/>
              <a:t>/16</a:t>
            </a:r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66646A5-A002-B557-4F9A-B4C886B26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" y="1737360"/>
            <a:ext cx="533400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 err="1">
                <a:latin typeface="Bodoni MT" panose="02070603080606020203" pitchFamily="18" charset="0"/>
              </a:rPr>
              <a:t>c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ilj</a:t>
            </a:r>
            <a:r>
              <a:rPr lang="en-US" altLang="en-US" sz="2200" dirty="0">
                <a:latin typeface="Bodoni MT" panose="02070603080606020203" pitchFamily="18" charset="0"/>
              </a:rPr>
              <a:t> -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održavanje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zadane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temperature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korištenjem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sijalice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kao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grijača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i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ventilatora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za </a:t>
            </a:r>
            <a:r>
              <a:rPr lang="en-US" altLang="en-US" sz="2200" dirty="0" err="1">
                <a:latin typeface="Bodoni MT" panose="02070603080606020203" pitchFamily="18" charset="0"/>
              </a:rPr>
              <a:t>hlađenje</a:t>
            </a:r>
            <a:endParaRPr lang="en-US" altLang="en-US" sz="2200" i="0" u="none" strike="noStrike" cap="none" normalizeH="0" baseline="0" dirty="0">
              <a:ln>
                <a:noFill/>
              </a:ln>
              <a:effectLst/>
              <a:latin typeface="Bodoni MT" panose="020706030806060202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 err="1">
                <a:latin typeface="Bodoni MT" panose="02070603080606020203" pitchFamily="18" charset="0"/>
              </a:rPr>
              <a:t>k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oristi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se MCC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kartica</a:t>
            </a:r>
            <a:r>
              <a:rPr lang="en-US" altLang="en-US" sz="2200" dirty="0">
                <a:latin typeface="Bodoni MT" panose="02070603080606020203" pitchFamily="18" charset="0"/>
              </a:rPr>
              <a:t>, r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egulator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odlučuje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da li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uključiti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grijanje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ili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hlađenje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,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na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osnovu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razlike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između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izmjerene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i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željene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temperature</a:t>
            </a:r>
            <a:endParaRPr lang="en-US" altLang="en-US" sz="2200" i="0" u="none" strike="noStrike" cap="none" normalizeH="0" baseline="0" dirty="0">
              <a:ln>
                <a:noFill/>
              </a:ln>
              <a:effectLst/>
              <a:latin typeface="Bodoni MT" panose="020706030806060202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 err="1">
                <a:latin typeface="Bodoni MT" panose="02070603080606020203" pitchFamily="18" charset="0"/>
              </a:rPr>
              <a:t>s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enzorski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ulaz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(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npr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. NTC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termistor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)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prati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se u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realnom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vremenu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i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poredi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sa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zadatom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referentnom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temperaturom</a:t>
            </a:r>
            <a:endParaRPr lang="en-US" altLang="en-US" sz="2200" i="0" u="none" strike="noStrike" cap="none" normalizeH="0" baseline="0" dirty="0">
              <a:ln>
                <a:noFill/>
              </a:ln>
              <a:effectLst/>
              <a:latin typeface="Bodoni MT" panose="020706030806060202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 err="1">
                <a:latin typeface="Bodoni MT" panose="02070603080606020203" pitchFamily="18" charset="0"/>
              </a:rPr>
              <a:t>d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vopoziciona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regulacija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znači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da je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izlazni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signal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ili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uključen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(1)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ili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isključen (0) —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nema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Bodoni MT" panose="02070603080606020203" pitchFamily="18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effectLst/>
                <a:latin typeface="Bodoni MT" panose="02070603080606020203" pitchFamily="18" charset="0"/>
              </a:rPr>
              <a:t>međuvrijednosti</a:t>
            </a:r>
            <a:endParaRPr kumimoji="0" lang="en-US" altLang="en-US" sz="2200" i="0" u="none" strike="noStrike" cap="none" normalizeH="0" baseline="0" dirty="0">
              <a:ln>
                <a:noFill/>
              </a:ln>
              <a:effectLst/>
              <a:latin typeface="Bodoni MT" panose="02070603080606020203" pitchFamily="18" charset="0"/>
            </a:endParaRPr>
          </a:p>
        </p:txBody>
      </p:sp>
      <p:pic>
        <p:nvPicPr>
          <p:cNvPr id="12" name="Content Placeholder 11" descr="A diagram of a ventilator&#10;&#10;AI-generated content may be incorrect.">
            <a:extLst>
              <a:ext uri="{FF2B5EF4-FFF2-40B4-BE49-F238E27FC236}">
                <a16:creationId xmlns:a16="http://schemas.microsoft.com/office/drawing/2014/main" id="{5CD2D57E-DFCC-10F9-18A6-8F2551C4EA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274" y="2208350"/>
            <a:ext cx="6093782" cy="3172869"/>
          </a:xfrm>
        </p:spPr>
      </p:pic>
    </p:spTree>
    <p:extLst>
      <p:ext uri="{BB962C8B-B14F-4D97-AF65-F5344CB8AC3E}">
        <p14:creationId xmlns:p14="http://schemas.microsoft.com/office/powerpoint/2010/main" val="359390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ADC3-9D78-51D0-7907-06D72CF9D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doni MT" panose="02070603080606020203" pitchFamily="18" charset="0"/>
              </a:rPr>
              <a:t>2. Organizacija vježbe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9893C-5A89-D08C-0D29-D2B2C6424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latin typeface="Bodoni MT" panose="02070603080606020203" pitchFamily="18" charset="0"/>
              </a:rPr>
              <a:t> implementacija logičkih funkcija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latin typeface="Bodoni MT" panose="02070603080606020203" pitchFamily="18" charset="0"/>
              </a:rPr>
              <a:t> odabir odgovarajućeg predotpora i električnog kruga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latin typeface="Bodoni MT" panose="02070603080606020203" pitchFamily="18" charset="0"/>
              </a:rPr>
              <a:t> snimanje karakteristike senzora koristeći akvizicijsku karticu u nekoliko faza: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latin typeface="Bodoni MT" panose="02070603080606020203" pitchFamily="18" charset="0"/>
              </a:rPr>
              <a:t> praćenje do stacionarnog stanja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latin typeface="Bodoni MT" panose="02070603080606020203" pitchFamily="18" charset="0"/>
              </a:rPr>
              <a:t>rad sijalice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latin typeface="Bodoni MT" panose="02070603080606020203" pitchFamily="18" charset="0"/>
              </a:rPr>
              <a:t>rad ventilatora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latin typeface="Bodoni MT" panose="02070603080606020203" pitchFamily="18" charset="0"/>
              </a:rPr>
              <a:t> određivanje parametara regulacije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latin typeface="Bodoni MT" panose="02070603080606020203" pitchFamily="18" charset="0"/>
              </a:rPr>
              <a:t> realizacija regulacije pomoću PLC-a</a:t>
            </a:r>
          </a:p>
          <a:p>
            <a:pPr>
              <a:buFont typeface="Wingdings" panose="05000000000000000000" pitchFamily="2" charset="2"/>
              <a:buChar char="q"/>
            </a:pPr>
            <a:endParaRPr lang="en-GB" dirty="0">
              <a:latin typeface="Bodoni MT" panose="020706030806060202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GB" dirty="0">
              <a:latin typeface="Bodoni MT" panose="02070603080606020203" pitchFamily="18" charset="0"/>
            </a:endParaRPr>
          </a:p>
          <a:p>
            <a:pPr marL="0" indent="0">
              <a:buNone/>
            </a:pP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34384-2C2B-C651-06A4-B3C3D027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r>
              <a:rPr lang="en-US"/>
              <a:t>/16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163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9B7B-D779-B56F-EFCB-671FBBB1B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doni MT" panose="02070603080606020203" pitchFamily="18" charset="0"/>
              </a:rPr>
              <a:t>Sheme spajanja</a:t>
            </a:r>
          </a:p>
        </p:txBody>
      </p:sp>
      <p:pic>
        <p:nvPicPr>
          <p:cNvPr id="8" name="Content Placeholder 7" descr="A diagram of a electrical system&#10;&#10;AI-generated content may be incorrect.">
            <a:extLst>
              <a:ext uri="{FF2B5EF4-FFF2-40B4-BE49-F238E27FC236}">
                <a16:creationId xmlns:a16="http://schemas.microsoft.com/office/drawing/2014/main" id="{A7D68097-03D0-AD27-BD3F-5FE956B7F5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4160" y="1845734"/>
            <a:ext cx="6582010" cy="443045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7FD5B-B4B4-8F29-BAE1-FCBCBA58A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 smtClean="0"/>
              <a:t>5</a:t>
            </a:fld>
            <a:r>
              <a:rPr lang="en-US"/>
              <a:t>/16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363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C6E7-5567-6864-F165-8A7A1EFC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doni MT" panose="02070603080606020203" pitchFamily="18" charset="0"/>
              </a:rPr>
              <a:t>Sheme spajanja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1206C-2E8B-B2BD-AAF7-847B80D00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r>
              <a:rPr lang="en-US"/>
              <a:t>/16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2971FB-4BC3-AE24-B7A4-6748FE176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852" y="1840740"/>
            <a:ext cx="587692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0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F4B69-43A0-4C78-1434-AEF23F0B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CFB64-051A-4CE3-B604-68B8F9052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doni MT" panose="02070603080606020203" pitchFamily="18" charset="0"/>
              </a:rPr>
              <a:t>3. Korišteni alat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C1C49-3A17-4C1A-943D-06A0B04C7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r>
              <a:rPr lang="en-US"/>
              <a:t>/16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A6F0ED-C39B-C58C-704F-B028CEF75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879883"/>
            <a:ext cx="1216687" cy="1046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FADDD6-22C3-917B-1113-BF157766AD1A}"/>
              </a:ext>
            </a:extLst>
          </p:cNvPr>
          <p:cNvSpPr txBox="1"/>
          <p:nvPr/>
        </p:nvSpPr>
        <p:spPr>
          <a:xfrm>
            <a:off x="2704288" y="2208584"/>
            <a:ext cx="7393023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200" dirty="0">
                <a:latin typeface="Bodoni MT" panose="02070603080606020203" pitchFamily="18" charset="0"/>
                <a:ea typeface="Calibri"/>
                <a:cs typeface="Calibri"/>
              </a:rPr>
              <a:t>Matlab – </a:t>
            </a:r>
            <a:r>
              <a:rPr lang="en-GB" sz="2200" dirty="0" err="1">
                <a:latin typeface="Bodoni MT" panose="02070603080606020203" pitchFamily="18" charset="0"/>
                <a:ea typeface="Calibri"/>
                <a:cs typeface="Calibri"/>
              </a:rPr>
              <a:t>prikupljanje</a:t>
            </a:r>
            <a:r>
              <a:rPr lang="en-GB" sz="2200" dirty="0">
                <a:latin typeface="Bodoni MT" panose="02070603080606020203" pitchFamily="18" charset="0"/>
                <a:ea typeface="Calibri"/>
                <a:cs typeface="Calibri"/>
              </a:rPr>
              <a:t> </a:t>
            </a:r>
            <a:r>
              <a:rPr lang="en-GB" sz="2200" dirty="0" err="1">
                <a:latin typeface="Bodoni MT" panose="02070603080606020203" pitchFamily="18" charset="0"/>
                <a:ea typeface="Calibri"/>
                <a:cs typeface="Calibri"/>
              </a:rPr>
              <a:t>podataka</a:t>
            </a:r>
            <a:r>
              <a:rPr lang="en-GB" sz="2200" dirty="0">
                <a:latin typeface="Bodoni MT" panose="02070603080606020203" pitchFamily="18" charset="0"/>
                <a:ea typeface="Calibri"/>
                <a:cs typeface="Calibri"/>
              </a:rPr>
              <a:t> </a:t>
            </a:r>
            <a:r>
              <a:rPr lang="en-GB" sz="2200" dirty="0" err="1">
                <a:latin typeface="Bodoni MT" panose="02070603080606020203" pitchFamily="18" charset="0"/>
                <a:ea typeface="Calibri"/>
                <a:cs typeface="Calibri"/>
              </a:rPr>
              <a:t>i</a:t>
            </a:r>
            <a:r>
              <a:rPr lang="en-GB" sz="2200" dirty="0">
                <a:latin typeface="Bodoni MT" panose="02070603080606020203" pitchFamily="18" charset="0"/>
                <a:ea typeface="Calibri"/>
                <a:cs typeface="Calibri"/>
              </a:rPr>
              <a:t> </a:t>
            </a:r>
            <a:r>
              <a:rPr lang="en-GB" sz="2200" dirty="0" err="1">
                <a:latin typeface="Bodoni MT" panose="02070603080606020203" pitchFamily="18" charset="0"/>
                <a:ea typeface="Calibri"/>
                <a:cs typeface="Calibri"/>
              </a:rPr>
              <a:t>grafički</a:t>
            </a:r>
            <a:r>
              <a:rPr lang="en-GB" sz="2200" dirty="0">
                <a:latin typeface="Bodoni MT" panose="02070603080606020203" pitchFamily="18" charset="0"/>
                <a:ea typeface="Calibri"/>
                <a:cs typeface="Calibri"/>
              </a:rPr>
              <a:t> </a:t>
            </a:r>
            <a:r>
              <a:rPr lang="en-GB" sz="2200" dirty="0" err="1">
                <a:latin typeface="Bodoni MT" panose="02070603080606020203" pitchFamily="18" charset="0"/>
                <a:ea typeface="Calibri"/>
                <a:cs typeface="Calibri"/>
              </a:rPr>
              <a:t>prikaz</a:t>
            </a:r>
            <a:r>
              <a:rPr lang="en-GB" sz="2200" dirty="0">
                <a:latin typeface="Bodoni MT" panose="02070603080606020203" pitchFamily="18" charset="0"/>
                <a:ea typeface="Calibri"/>
                <a:cs typeface="Calibri"/>
              </a:rPr>
              <a:t> </a:t>
            </a:r>
            <a:r>
              <a:rPr lang="en-GB" sz="2200" dirty="0" err="1">
                <a:latin typeface="Bodoni MT" panose="02070603080606020203" pitchFamily="18" charset="0"/>
                <a:ea typeface="Calibri"/>
                <a:cs typeface="Calibri"/>
              </a:rPr>
              <a:t>podataka</a:t>
            </a:r>
            <a:endParaRPr lang="en-GB" sz="2200" dirty="0">
              <a:latin typeface="Bodoni MT" panose="02070603080606020203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E90994C-906A-E38D-6EBA-CC11BCE05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221" y="3116734"/>
            <a:ext cx="1370383" cy="117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0A5C87-74A1-62CC-A4BE-36A249C34C6E}"/>
              </a:ext>
            </a:extLst>
          </p:cNvPr>
          <p:cNvSpPr txBox="1"/>
          <p:nvPr/>
        </p:nvSpPr>
        <p:spPr>
          <a:xfrm>
            <a:off x="2704288" y="3474566"/>
            <a:ext cx="6381345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200" dirty="0">
                <a:latin typeface="Bodoni MT" panose="02070603080606020203" pitchFamily="18" charset="0"/>
                <a:ea typeface="Calibri"/>
                <a:cs typeface="Calibri"/>
              </a:rPr>
              <a:t>Simulink – simulacija regulacije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96B69C-C14B-5AAF-7EC8-BF6837B9F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917" y="4762672"/>
            <a:ext cx="1216687" cy="10970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70CFA0-5906-04B9-70B4-5E46F9EED6B9}"/>
              </a:ext>
            </a:extLst>
          </p:cNvPr>
          <p:cNvSpPr txBox="1"/>
          <p:nvPr/>
        </p:nvSpPr>
        <p:spPr>
          <a:xfrm>
            <a:off x="2704289" y="5094226"/>
            <a:ext cx="5904690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200" dirty="0">
                <a:latin typeface="Bodoni MT" panose="02070603080606020203" pitchFamily="18" charset="0"/>
                <a:ea typeface="Calibri"/>
                <a:cs typeface="Calibri"/>
              </a:rPr>
              <a:t>easySoft – implementacija logičkih funkcija</a:t>
            </a:r>
          </a:p>
        </p:txBody>
      </p:sp>
    </p:spTree>
    <p:extLst>
      <p:ext uri="{BB962C8B-B14F-4D97-AF65-F5344CB8AC3E}">
        <p14:creationId xmlns:p14="http://schemas.microsoft.com/office/powerpoint/2010/main" val="2548244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AD392-F016-2438-4204-FF9FFA05B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doni MT"/>
                <a:ea typeface="Calibri Light"/>
                <a:cs typeface="Calibri Light"/>
              </a:rPr>
              <a:t>3. </a:t>
            </a:r>
            <a:r>
              <a:rPr lang="en-GB" dirty="0" err="1">
                <a:latin typeface="Bodoni MT"/>
                <a:ea typeface="Calibri Light"/>
                <a:cs typeface="Calibri Light"/>
              </a:rPr>
              <a:t>Korišteni</a:t>
            </a:r>
            <a:r>
              <a:rPr lang="en-GB" dirty="0">
                <a:latin typeface="Bodoni MT"/>
                <a:ea typeface="Calibri Light"/>
                <a:cs typeface="Calibri Light"/>
              </a:rPr>
              <a:t> </a:t>
            </a:r>
            <a:r>
              <a:rPr lang="en-GB" dirty="0" err="1">
                <a:latin typeface="Bodoni MT"/>
                <a:ea typeface="Calibri Light"/>
                <a:cs typeface="Calibri Light"/>
              </a:rPr>
              <a:t>alat</a:t>
            </a:r>
            <a:endParaRPr lang="en-US" dirty="0" err="1"/>
          </a:p>
        </p:txBody>
      </p:sp>
      <p:pic>
        <p:nvPicPr>
          <p:cNvPr id="5" name="Content Placeholder 4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7250CBBF-3E0C-A003-92A0-B10ED8C0A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5487" y="1912409"/>
            <a:ext cx="7441436" cy="402336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2AD91-5991-92DF-93E6-F05596441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8</a:t>
            </a:fld>
            <a:r>
              <a:rPr lang="en-US" dirty="0"/>
              <a:t>/16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41D1E1-D7B5-2C50-9C4F-53721821CB78}"/>
              </a:ext>
            </a:extLst>
          </p:cNvPr>
          <p:cNvSpPr txBox="1"/>
          <p:nvPr/>
        </p:nvSpPr>
        <p:spPr>
          <a:xfrm>
            <a:off x="1276871" y="3463316"/>
            <a:ext cx="274320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Bodoni MT" panose="02070603080606020203" pitchFamily="18" charset="0"/>
                <a:ea typeface="Calibri"/>
                <a:cs typeface="Calibri"/>
              </a:rPr>
              <a:t>model za </a:t>
            </a:r>
            <a:r>
              <a:rPr lang="en-US" sz="2200" dirty="0" err="1">
                <a:latin typeface="Bodoni MT" panose="02070603080606020203" pitchFamily="18" charset="0"/>
                <a:ea typeface="Calibri"/>
                <a:cs typeface="Calibri"/>
              </a:rPr>
              <a:t>prikupljanje</a:t>
            </a:r>
            <a:r>
              <a:rPr lang="en-US" sz="2200" dirty="0">
                <a:latin typeface="Bodoni MT" panose="02070603080606020203" pitchFamily="18" charset="0"/>
                <a:ea typeface="Calibri"/>
                <a:cs typeface="Calibri"/>
              </a:rPr>
              <a:t> </a:t>
            </a:r>
            <a:r>
              <a:rPr lang="en-US" sz="2200" dirty="0" err="1">
                <a:latin typeface="Bodoni MT" panose="02070603080606020203" pitchFamily="18" charset="0"/>
                <a:ea typeface="Calibri"/>
                <a:cs typeface="Calibri"/>
              </a:rPr>
              <a:t>podataka</a:t>
            </a:r>
            <a:r>
              <a:rPr lang="en-US" sz="2200" dirty="0">
                <a:latin typeface="Bodoni MT" panose="02070603080606020203" pitchFamily="18" charset="0"/>
                <a:ea typeface="Calibri"/>
                <a:cs typeface="Calibri"/>
              </a:rPr>
              <a:t> </a:t>
            </a:r>
            <a:r>
              <a:rPr lang="en-US" sz="2200" dirty="0" err="1">
                <a:latin typeface="Bodoni MT" panose="02070603080606020203" pitchFamily="18" charset="0"/>
                <a:ea typeface="Calibri"/>
                <a:cs typeface="Calibri"/>
              </a:rPr>
              <a:t>sa</a:t>
            </a:r>
            <a:r>
              <a:rPr lang="en-US" sz="2200" dirty="0">
                <a:latin typeface="Bodoni MT" panose="02070603080606020203" pitchFamily="18" charset="0"/>
                <a:ea typeface="Calibri"/>
                <a:cs typeface="Calibri"/>
              </a:rPr>
              <a:t> </a:t>
            </a:r>
            <a:r>
              <a:rPr lang="en-US" sz="2200" dirty="0" err="1">
                <a:latin typeface="Bodoni MT" panose="02070603080606020203" pitchFamily="18" charset="0"/>
                <a:ea typeface="Calibri"/>
                <a:cs typeface="Calibri"/>
              </a:rPr>
              <a:t>akvizicijske</a:t>
            </a:r>
            <a:r>
              <a:rPr lang="en-US" sz="2200" dirty="0">
                <a:latin typeface="Bodoni MT" panose="02070603080606020203" pitchFamily="18" charset="0"/>
                <a:ea typeface="Calibri"/>
                <a:cs typeface="Calibri"/>
              </a:rPr>
              <a:t> </a:t>
            </a:r>
            <a:r>
              <a:rPr lang="en-US" sz="2200" dirty="0" err="1">
                <a:latin typeface="Bodoni MT" panose="02070603080606020203" pitchFamily="18" charset="0"/>
                <a:ea typeface="Calibri"/>
                <a:cs typeface="Calibri"/>
              </a:rPr>
              <a:t>kartice</a:t>
            </a:r>
            <a:endParaRPr lang="en-US" sz="2200" dirty="0">
              <a:latin typeface="Bodoni MT" panose="02070603080606020203" pitchFamily="18" charset="0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1317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4A81A-B982-E3C1-65FC-50BB4FAB4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doni MT" panose="02070603080606020203" pitchFamily="18" charset="0"/>
              </a:rPr>
              <a:t>3. Korišteni alat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0DBA8-766A-85AB-D3A2-2B7A5E38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 smtClean="0"/>
              <a:t>9</a:t>
            </a:fld>
            <a:r>
              <a:rPr lang="en-US" dirty="0"/>
              <a:t>/16</a:t>
            </a:r>
          </a:p>
        </p:txBody>
      </p:sp>
      <p:pic>
        <p:nvPicPr>
          <p:cNvPr id="1030" name="Picture 6" descr="Eaton Moeller Programmable Relay (PLC) Overview">
            <a:extLst>
              <a:ext uri="{FF2B5EF4-FFF2-40B4-BE49-F238E27FC236}">
                <a16:creationId xmlns:a16="http://schemas.microsoft.com/office/drawing/2014/main" id="{8342F52F-4CEF-C5F8-8B62-0530FDA58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553" y="2269720"/>
            <a:ext cx="2592305" cy="2124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7920F1-2F01-E6B2-8DD7-EEEAC954AE10}"/>
              </a:ext>
            </a:extLst>
          </p:cNvPr>
          <p:cNvSpPr txBox="1"/>
          <p:nvPr/>
        </p:nvSpPr>
        <p:spPr>
          <a:xfrm>
            <a:off x="5505856" y="5138989"/>
            <a:ext cx="2120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Bodoni MT" panose="02070603080606020203" pitchFamily="18" charset="0"/>
              </a:rPr>
              <a:t>Termički sistem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787C5B-F258-D8A3-B672-E8B88D9FF9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63" t="24114" r="-1316" b="14557"/>
          <a:stretch/>
        </p:blipFill>
        <p:spPr>
          <a:xfrm>
            <a:off x="5000017" y="2269720"/>
            <a:ext cx="2970249" cy="27677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B1AE34-BB7A-BEA2-CB3B-5824878C6F25}"/>
              </a:ext>
            </a:extLst>
          </p:cNvPr>
          <p:cNvSpPr txBox="1"/>
          <p:nvPr/>
        </p:nvSpPr>
        <p:spPr>
          <a:xfrm>
            <a:off x="1292953" y="5079001"/>
            <a:ext cx="28826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latin typeface="Bodoni MT" panose="02070603080606020203" pitchFamily="18" charset="0"/>
              </a:rPr>
              <a:t>PLC (programabilni logički kontroler)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1180D3-CE36-331F-B358-FD15CCF85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1806" y="3044757"/>
            <a:ext cx="2642056" cy="9475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5C59B90-150D-2413-0C7D-C04A2E31266A}"/>
              </a:ext>
            </a:extLst>
          </p:cNvPr>
          <p:cNvSpPr txBox="1"/>
          <p:nvPr/>
        </p:nvSpPr>
        <p:spPr>
          <a:xfrm>
            <a:off x="9016632" y="4073059"/>
            <a:ext cx="24410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latin typeface="Bodoni MT" panose="02070603080606020203" pitchFamily="18" charset="0"/>
              </a:rPr>
              <a:t>Prenosna funkcija sistema</a:t>
            </a:r>
          </a:p>
        </p:txBody>
      </p:sp>
    </p:spTree>
    <p:extLst>
      <p:ext uri="{BB962C8B-B14F-4D97-AF65-F5344CB8AC3E}">
        <p14:creationId xmlns:p14="http://schemas.microsoft.com/office/powerpoint/2010/main" val="4164106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1653-39A7-625E-EA87-839B7DF42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88906"/>
            <a:ext cx="10058400" cy="748454"/>
          </a:xfrm>
        </p:spPr>
        <p:txBody>
          <a:bodyPr/>
          <a:lstStyle/>
          <a:p>
            <a:r>
              <a:rPr lang="en-GB" dirty="0">
                <a:latin typeface="Bodoni MT" panose="02070603080606020203" pitchFamily="18" charset="0"/>
              </a:rPr>
              <a:t>Parametri sistema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61289-D101-C2D4-CAB1-45593468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10</a:t>
            </a:fld>
            <a:r>
              <a:rPr lang="en-US"/>
              <a:t>/16</a:t>
            </a:r>
            <a:endParaRPr lang="en-US" dirty="0"/>
          </a:p>
        </p:txBody>
      </p:sp>
      <p:sp>
        <p:nvSpPr>
          <p:cNvPr id="11" name="Callout: Up Arrow 10">
            <a:extLst>
              <a:ext uri="{FF2B5EF4-FFF2-40B4-BE49-F238E27FC236}">
                <a16:creationId xmlns:a16="http://schemas.microsoft.com/office/drawing/2014/main" id="{EB6C5628-4E71-AEED-4591-35AE94A54635}"/>
              </a:ext>
            </a:extLst>
          </p:cNvPr>
          <p:cNvSpPr/>
          <p:nvPr/>
        </p:nvSpPr>
        <p:spPr>
          <a:xfrm>
            <a:off x="2082800" y="1832186"/>
            <a:ext cx="3557811" cy="1607252"/>
          </a:xfrm>
          <a:prstGeom prst="up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4000" dirty="0" err="1">
                <a:solidFill>
                  <a:schemeClr val="tx1"/>
                </a:solidFill>
              </a:rPr>
              <a:t>K</a:t>
            </a:r>
            <a:r>
              <a:rPr lang="en-GB" sz="1600" dirty="0" err="1">
                <a:solidFill>
                  <a:schemeClr val="tx1"/>
                </a:solidFill>
              </a:rPr>
              <a:t>grijanja</a:t>
            </a:r>
            <a:r>
              <a:rPr lang="en-GB" sz="4000" dirty="0">
                <a:solidFill>
                  <a:schemeClr val="tx1"/>
                </a:solidFill>
              </a:rPr>
              <a:t>=10.9249</a:t>
            </a:r>
          </a:p>
        </p:txBody>
      </p:sp>
      <p:sp>
        <p:nvSpPr>
          <p:cNvPr id="12" name="Callout: Up Arrow 11">
            <a:extLst>
              <a:ext uri="{FF2B5EF4-FFF2-40B4-BE49-F238E27FC236}">
                <a16:creationId xmlns:a16="http://schemas.microsoft.com/office/drawing/2014/main" id="{10ABB877-F948-AB0B-28D6-5074D04277D2}"/>
              </a:ext>
            </a:extLst>
          </p:cNvPr>
          <p:cNvSpPr/>
          <p:nvPr/>
        </p:nvSpPr>
        <p:spPr>
          <a:xfrm>
            <a:off x="1996441" y="4101254"/>
            <a:ext cx="3626145" cy="1765614"/>
          </a:xfrm>
          <a:prstGeom prst="up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l-GR" sz="4000" dirty="0">
                <a:solidFill>
                  <a:schemeClr val="tx1"/>
                </a:solidFill>
              </a:rPr>
              <a:t>Τ</a:t>
            </a:r>
            <a:r>
              <a:rPr lang="en-GB" sz="1600" dirty="0" err="1">
                <a:solidFill>
                  <a:schemeClr val="tx1"/>
                </a:solidFill>
              </a:rPr>
              <a:t>grijanja</a:t>
            </a:r>
            <a:r>
              <a:rPr lang="en-GB" sz="4000" dirty="0">
                <a:solidFill>
                  <a:schemeClr val="tx1"/>
                </a:solidFill>
              </a:rPr>
              <a:t>=</a:t>
            </a:r>
            <a:r>
              <a:rPr lang="en-GB" sz="4000" dirty="0">
                <a:solidFill>
                  <a:schemeClr val="tx1"/>
                </a:solidFill>
                <a:ea typeface="+mn-lt"/>
                <a:cs typeface="+mn-lt"/>
              </a:rPr>
              <a:t>158.3270 </a:t>
            </a:r>
            <a:r>
              <a:rPr lang="en-GB" sz="40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3" name="Callout: Down Arrow 12">
            <a:extLst>
              <a:ext uri="{FF2B5EF4-FFF2-40B4-BE49-F238E27FC236}">
                <a16:creationId xmlns:a16="http://schemas.microsoft.com/office/drawing/2014/main" id="{F621AE87-718B-8C73-A1E4-B2F59908D199}"/>
              </a:ext>
            </a:extLst>
          </p:cNvPr>
          <p:cNvSpPr/>
          <p:nvPr/>
        </p:nvSpPr>
        <p:spPr>
          <a:xfrm>
            <a:off x="7000239" y="2072640"/>
            <a:ext cx="3413761" cy="1767840"/>
          </a:xfrm>
          <a:prstGeom prst="down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4000" dirty="0" err="1">
                <a:solidFill>
                  <a:schemeClr val="tx1"/>
                </a:solidFill>
              </a:rPr>
              <a:t>K</a:t>
            </a:r>
            <a:r>
              <a:rPr lang="en-GB" sz="1600" dirty="0" err="1">
                <a:solidFill>
                  <a:schemeClr val="tx1"/>
                </a:solidFill>
              </a:rPr>
              <a:t>hlađenja</a:t>
            </a:r>
            <a:r>
              <a:rPr lang="en-GB" sz="5000" dirty="0">
                <a:solidFill>
                  <a:schemeClr val="tx1"/>
                </a:solidFill>
              </a:rPr>
              <a:t>=</a:t>
            </a:r>
            <a:r>
              <a:rPr lang="en-GB" sz="4000" dirty="0">
                <a:solidFill>
                  <a:schemeClr val="tx1"/>
                </a:solidFill>
              </a:rPr>
              <a:t>−11.0903</a:t>
            </a:r>
          </a:p>
        </p:txBody>
      </p:sp>
      <p:sp>
        <p:nvSpPr>
          <p:cNvPr id="14" name="Callout: Down Arrow 13">
            <a:extLst>
              <a:ext uri="{FF2B5EF4-FFF2-40B4-BE49-F238E27FC236}">
                <a16:creationId xmlns:a16="http://schemas.microsoft.com/office/drawing/2014/main" id="{43FA3511-A1F3-2CE1-299D-B7EF50C0DC27}"/>
              </a:ext>
            </a:extLst>
          </p:cNvPr>
          <p:cNvSpPr/>
          <p:nvPr/>
        </p:nvSpPr>
        <p:spPr>
          <a:xfrm>
            <a:off x="7000240" y="4274252"/>
            <a:ext cx="3422249" cy="1757402"/>
          </a:xfrm>
          <a:prstGeom prst="down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l-GR" sz="4000" dirty="0">
                <a:solidFill>
                  <a:schemeClr val="tx1"/>
                </a:solidFill>
              </a:rPr>
              <a:t>Τ</a:t>
            </a:r>
            <a:r>
              <a:rPr lang="en-GB" sz="1600" dirty="0" err="1">
                <a:solidFill>
                  <a:schemeClr val="tx1"/>
                </a:solidFill>
              </a:rPr>
              <a:t>hlađenja</a:t>
            </a:r>
            <a:r>
              <a:rPr lang="en-GB" sz="5000" dirty="0">
                <a:solidFill>
                  <a:schemeClr val="tx1"/>
                </a:solidFill>
              </a:rPr>
              <a:t>=87.24</a:t>
            </a:r>
            <a:r>
              <a:rPr lang="en-GB" sz="4000" dirty="0">
                <a:solidFill>
                  <a:schemeClr val="tx1"/>
                </a:solidFill>
              </a:rPr>
              <a:t> s </a:t>
            </a:r>
          </a:p>
        </p:txBody>
      </p:sp>
    </p:spTree>
    <p:extLst>
      <p:ext uri="{BB962C8B-B14F-4D97-AF65-F5344CB8AC3E}">
        <p14:creationId xmlns:p14="http://schemas.microsoft.com/office/powerpoint/2010/main" val="1373271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6B4AA-31D9-A11B-24A4-097D05EA8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08362"/>
            <a:ext cx="10058400" cy="842415"/>
          </a:xfrm>
        </p:spPr>
        <p:txBody>
          <a:bodyPr/>
          <a:lstStyle/>
          <a:p>
            <a:r>
              <a:rPr lang="en-GB" dirty="0">
                <a:latin typeface="Bodoni MT" panose="02070603080606020203" pitchFamily="18" charset="0"/>
              </a:rPr>
              <a:t>4. Simulacijski rezultati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0F950-1F2D-84CE-238A-A3285FFA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11</a:t>
            </a:fld>
            <a:r>
              <a:rPr lang="en-US"/>
              <a:t>/16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9C1E76-5D75-1D3A-5A16-78F21163D2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26"/>
          <a:stretch/>
        </p:blipFill>
        <p:spPr>
          <a:xfrm>
            <a:off x="1154083" y="1533079"/>
            <a:ext cx="9981271" cy="43910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350E60-B9B7-717D-4193-8A18B7174B63}"/>
              </a:ext>
            </a:extLst>
          </p:cNvPr>
          <p:cNvSpPr txBox="1"/>
          <p:nvPr/>
        </p:nvSpPr>
        <p:spPr>
          <a:xfrm>
            <a:off x="1245140" y="933855"/>
            <a:ext cx="59144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Bodoni MT" panose="02070603080606020203" pitchFamily="18" charset="0"/>
              </a:rPr>
              <a:t>Postavka simulacije</a:t>
            </a:r>
          </a:p>
        </p:txBody>
      </p:sp>
    </p:spTree>
    <p:extLst>
      <p:ext uri="{BB962C8B-B14F-4D97-AF65-F5344CB8AC3E}">
        <p14:creationId xmlns:p14="http://schemas.microsoft.com/office/powerpoint/2010/main" val="12531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40AD3-A82A-8900-5F34-FDF57C440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083" y="495139"/>
            <a:ext cx="10058400" cy="748454"/>
          </a:xfrm>
        </p:spPr>
        <p:txBody>
          <a:bodyPr/>
          <a:lstStyle/>
          <a:p>
            <a:r>
              <a:rPr lang="en-GB" dirty="0">
                <a:latin typeface="Bodoni MT" panose="02070603080606020203" pitchFamily="18" charset="0"/>
              </a:rPr>
              <a:t>4. Simulacijski rezultati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756A1-7880-86BE-88AB-31E90C0E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12</a:t>
            </a:fld>
            <a:r>
              <a:rPr lang="en-US"/>
              <a:t>/16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62BF57-95FA-B34E-0FE1-3A6DFA59F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483" y="2152603"/>
            <a:ext cx="4753638" cy="21053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89F0D1-8D8C-E636-E126-B65EC65B2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79" y="2152603"/>
            <a:ext cx="5439534" cy="31817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CDF486-3050-6833-0913-7DEE8CCEECCC}"/>
              </a:ext>
            </a:extLst>
          </p:cNvPr>
          <p:cNvSpPr txBox="1"/>
          <p:nvPr/>
        </p:nvSpPr>
        <p:spPr>
          <a:xfrm>
            <a:off x="1154083" y="1243593"/>
            <a:ext cx="60943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lvl="0" algn="l" rtl="0">
              <a:spcBef>
                <a:spcPts val="1600"/>
              </a:spcBef>
              <a:spcAft>
                <a:spcPts val="0"/>
              </a:spcAft>
              <a:buSzPts val="1400"/>
            </a:pPr>
            <a:r>
              <a:rPr lang="en-GB" sz="2200" dirty="0">
                <a:latin typeface="Bodoni MT" panose="02070603080606020203" pitchFamily="18" charset="0"/>
              </a:rPr>
              <a:t>EasySoft model za regulaciju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BBBB0E-B00E-1978-A8CD-824870F719AE}"/>
              </a:ext>
            </a:extLst>
          </p:cNvPr>
          <p:cNvSpPr txBox="1"/>
          <p:nvPr/>
        </p:nvSpPr>
        <p:spPr>
          <a:xfrm>
            <a:off x="6799634" y="4542817"/>
            <a:ext cx="4698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A01 - analogni komparator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I03 – regulator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Q01 – relej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I02, I05 - prekidači</a:t>
            </a:r>
          </a:p>
        </p:txBody>
      </p:sp>
    </p:spTree>
    <p:extLst>
      <p:ext uri="{BB962C8B-B14F-4D97-AF65-F5344CB8AC3E}">
        <p14:creationId xmlns:p14="http://schemas.microsoft.com/office/powerpoint/2010/main" val="4097207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6889A-DFD8-3B5F-DF65-CE1B3DD4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doni MT" panose="02070603080606020203" pitchFamily="18" charset="0"/>
              </a:rPr>
              <a:t>4. Simulacijski rezultati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A3F77-21F7-3F32-B5B6-6811FB272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13</a:t>
            </a:fld>
            <a:r>
              <a:rPr lang="en-US"/>
              <a:t>/16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F0324B-F34C-6E5E-DF88-A709307FB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67" y="1905656"/>
            <a:ext cx="5333333" cy="400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9A199E-EE8D-8DC4-27D3-753331F03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640" y="1905656"/>
            <a:ext cx="5333333" cy="4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537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6BF8-49EF-866A-6C7A-83E64F9B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doni MT" panose="02070603080606020203" pitchFamily="18" charset="0"/>
              </a:rPr>
              <a:t>5. Eksperimentalni rezultati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6FDC8-FF29-DAFD-FB5B-0AEF0BC58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14</a:t>
            </a:fld>
            <a:r>
              <a:rPr lang="en-US"/>
              <a:t>/16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033E75-0926-6307-BA07-7FFEEDB2D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28" y="1843393"/>
            <a:ext cx="5499358" cy="41245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A20B8F-F0A1-1C53-40CB-05B9355A2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167" y="1843394"/>
            <a:ext cx="5499356" cy="412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75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C003-10F4-2FA2-3991-0BF68825A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doni MT" panose="02070603080606020203" pitchFamily="18" charset="0"/>
              </a:rPr>
              <a:t>5. Eksperimentalni rezultati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C0531-87AA-98FE-B2F1-E3986516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15</a:t>
            </a:fld>
            <a:r>
              <a:rPr lang="en-US"/>
              <a:t>/16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42E879-F040-824A-3C08-3C8577686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30" y="2019240"/>
            <a:ext cx="5724230" cy="37319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7AE84F-C125-A25C-73BE-F387D5DAC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19241"/>
            <a:ext cx="5537200" cy="373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06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D144-7C6E-B8C4-FD42-44B9B24F3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doni MT" panose="02070603080606020203" pitchFamily="18" charset="0"/>
              </a:rPr>
              <a:t>6. Zaključak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74391-B8F4-D9B2-4670-93C94CDE0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statička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karakteristika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NTC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senzora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 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i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uticaj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ventilatora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na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termički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sistem</a:t>
            </a:r>
            <a:endParaRPr lang="en-GB" dirty="0">
              <a:latin typeface="Bodoni MT" panose="02070603080606020203" pitchFamily="18" charset="0"/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GB" dirty="0">
              <a:latin typeface="Bodoni MT" panose="02070603080606020203" pitchFamily="18" charset="0"/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linearizacija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dobivenih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vrijednosti</a:t>
            </a:r>
            <a:endParaRPr lang="en-GB" dirty="0">
              <a:latin typeface="Bodoni MT" panose="02070603080606020203" pitchFamily="18" charset="0"/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GB" dirty="0">
              <a:latin typeface="Bodoni MT" panose="02070603080606020203" pitchFamily="18" charset="0"/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upoznavanje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sa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PLC-om 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i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easySoft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programom</a:t>
            </a:r>
            <a:endParaRPr lang="en-GB" dirty="0">
              <a:latin typeface="Bodoni MT" panose="02070603080606020203" pitchFamily="18" charset="0"/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GB" dirty="0">
              <a:latin typeface="Bodoni MT" panose="02070603080606020203" pitchFamily="18" charset="0"/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usporedba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simulacije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dvopoložajne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regulacije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sa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 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dobivenim</a:t>
            </a:r>
            <a:r>
              <a:rPr lang="en-GB" dirty="0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 </a:t>
            </a:r>
            <a:r>
              <a:rPr lang="en-GB" dirty="0" err="1">
                <a:latin typeface="Bodoni MT" panose="02070603080606020203" pitchFamily="18" charset="0"/>
                <a:ea typeface="Calibri" panose="020F0502020204030204"/>
                <a:cs typeface="Calibri" panose="020F0502020204030204"/>
              </a:rPr>
              <a:t>rezultatima</a:t>
            </a:r>
            <a:endParaRPr lang="en-GB" dirty="0">
              <a:latin typeface="Bodoni MT" panose="02070603080606020203" pitchFamily="18" charset="0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76B8A-5B60-75C2-9B4A-9B1CB85F6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16</a:t>
            </a:fld>
            <a:r>
              <a:rPr lang="en-US"/>
              <a:t>/16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478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2A8B5-FBAC-3C8D-3106-D6D05FD55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55479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GB" sz="5500" b="1" dirty="0">
                <a:latin typeface="Bodoni MT" panose="02070603080606020203" pitchFamily="18" charset="0"/>
              </a:rPr>
              <a:t>HVALA NA PAŽNJI!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BCB08-89EB-CF92-2B03-4B66AAA49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95339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198</TotalTime>
  <Words>333</Words>
  <Application>Microsoft Office PowerPoint</Application>
  <PresentationFormat>Widescreen</PresentationFormat>
  <Paragraphs>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Bodoni MT</vt:lpstr>
      <vt:lpstr>Calibri</vt:lpstr>
      <vt:lpstr>Calibri Light</vt:lpstr>
      <vt:lpstr>Wingdings</vt:lpstr>
      <vt:lpstr>Retrospect</vt:lpstr>
      <vt:lpstr>Dvopoložajna regulacija na PLC-u</vt:lpstr>
      <vt:lpstr>Sadržaj</vt:lpstr>
      <vt:lpstr>1. Opis problema</vt:lpstr>
      <vt:lpstr>2. Organizacija vježbe</vt:lpstr>
      <vt:lpstr>Sheme spajanja</vt:lpstr>
      <vt:lpstr>Sheme spajanja</vt:lpstr>
      <vt:lpstr>3. Korišteni alat</vt:lpstr>
      <vt:lpstr>3. Korišteni alat</vt:lpstr>
      <vt:lpstr>3. Korišteni alat</vt:lpstr>
      <vt:lpstr>Parametri sistema</vt:lpstr>
      <vt:lpstr>4. Simulacijski rezultati</vt:lpstr>
      <vt:lpstr>4. Simulacijski rezultati</vt:lpstr>
      <vt:lpstr>4. Simulacijski rezultati</vt:lpstr>
      <vt:lpstr>5. Eksperimentalni rezultati</vt:lpstr>
      <vt:lpstr>5. Eksperimentalni rezultati</vt:lpstr>
      <vt:lpstr>6. Zaključak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elma avdibegovic</dc:creator>
  <cp:lastModifiedBy>elma avdibegovic</cp:lastModifiedBy>
  <cp:revision>180</cp:revision>
  <dcterms:created xsi:type="dcterms:W3CDTF">2025-05-26T20:04:37Z</dcterms:created>
  <dcterms:modified xsi:type="dcterms:W3CDTF">2025-05-28T21:00:36Z</dcterms:modified>
</cp:coreProperties>
</file>